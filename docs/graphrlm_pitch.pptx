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 сек. Хук: 'Мы не делаем ещё один RAG. Мы решаем проблему, которую RAG игнорирует — полноту доказательств.' Назвать себя и проект, сразу перейти к боли.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сек. Это самый важный слайд для 'защиты идеи'. Продаёшь ПРОБЛЕМУ, не механизм. Приведи живой пример боли из выбранной вертикали [PLACEHOLDER: вставь конкретный кейс — напр. пропущенный прецедент в юр-research стоит проигранного дела]. Не упоминай графы/косинусы здесь.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~55 сек. Один кадр архитектуры. Главная мысль — не 'граф', а ЭКОНОМИКА: дешёвый детектор + дорогой исполнитель по триггеру. Это и масштабируется, и дёшево.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 сек. Killer-слайд. Одна мысль: наивные подходы фундаментально упираются в 21%, мы даём 70% БЕЗ обучения на домене. Если спросят про supervised 0.774 — 'мы zero-shot и в полтора раза дешевле развернуть, им нужна разметка под каждую вертикаль'. НЕ показывай text-RLM абляцию.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 сек. Связка качество+цена. Цифры v2 на полных 500 кейсах (EM 0.522, F1 0.639) — надёжные сами по себе. ОСТОРОЖНО: сравнение с публичными LLM — directional (разные протоколы оценки MuSiQue), держи звёздочку и НЕ делай 'в 1.4 раза точнее Gemini' главным лозунгом — грамотный человек спросит про идентичность сеттинга. Не уходи в F1 против text-RLM (незначимо, n=60).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~50 сек. Ответ на 'не повторят ли за выходные'. Дифференциация — НЕ в косинусах/многомерности (это не продаём). В постановке (completeness-first), training-free развёртывании и экономике.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~40 сек. Закрытие. ОБЯЗАТЕЛЬНО замени два [PLACEHOLDER]: вертикаль флагмана и конкретный ask (сколько денег / на что / что просишь у этой аудитории). Без конкретного ask питч провисает. Заверши слоганом.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sz="5400" b="1" i="0">
                <a:solidFill>
                  <a:srgbClr val="7CC4FF"/>
                </a:solidFill>
                <a:latin typeface="Segoe UI"/>
              </a:rPr>
              <a:t>GraphRLM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2200" b="0" i="0">
                <a:solidFill>
                  <a:srgbClr val="E8EAF0"/>
                </a:solidFill>
                <a:latin typeface="Segoe UI"/>
              </a:rPr>
              <a:t>Достаёт недостающие звенья доказательной цепочки в контекст AI-research —</a:t>
            </a:r>
          </a:p>
          <a:p>
            <a:pPr>
              <a:spcBef>
                <a:spcPts val="0"/>
              </a:spcBef>
              <a:spcAft>
                <a:spcPts val="2200"/>
              </a:spcAft>
            </a:pPr>
            <a:r>
              <a:rPr sz="2200" b="0" i="0">
                <a:solidFill>
                  <a:srgbClr val="E8EAF0"/>
                </a:solidFill>
                <a:latin typeface="Segoe UI"/>
              </a:rPr>
              <a:t>там, где пропущенный факт стоит дороже неверного ответа.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8B93A7"/>
                </a:solidFill>
                <a:latin typeface="Segoe UI"/>
              </a:rPr>
              <a:t>github.com/FD-AX/GraphRLM   ·   питч-версия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3000" b="1" i="0">
                <a:solidFill>
                  <a:srgbClr val="7CC4FF"/>
                </a:solidFill>
                <a:latin typeface="Segoe UI"/>
              </a:rPr>
              <a:t>Проблема: AI отвечает уверенно на неполных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E8EAF0"/>
                </a:solidFill>
                <a:latin typeface="Segoe UI"/>
              </a:rPr>
              <a:t>•  В юр-research, due diligence, фарме пропущенное доказательство дороже неверного ответа — потому что выглядит как правильный ответ.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E8EAF0"/>
                </a:solidFill>
                <a:latin typeface="Segoe UI"/>
              </a:rPr>
              <a:t>•  Все измеряют точность ответа. Полноту доказательной базы — никто.</a:t>
            </a:r>
          </a:p>
          <a:p>
            <a:pPr>
              <a:spcBef>
                <a:spcPts val="0"/>
              </a:spcBef>
              <a:spcAft>
                <a:spcPts val="2000"/>
              </a:spcAft>
            </a:pPr>
            <a:r>
              <a:rPr sz="2000" b="0" i="0">
                <a:solidFill>
                  <a:srgbClr val="E8EAF0"/>
                </a:solidFill>
                <a:latin typeface="Segoe UI"/>
              </a:rPr>
              <a:t>•  «False completion»: система закрывает вопрос, не собрав всю цепочку — невидимый и дорогой режим отказа RAG-систем.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FFD479"/>
                </a:solidFill>
                <a:latin typeface="Segoe UI"/>
              </a:rPr>
              <a:t>Мы не просто измеряем полноту — мы достаём в контекст именно то доказательство, которого не хватает.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3000" b="1" i="0">
                <a:solidFill>
                  <a:srgbClr val="7CC4FF"/>
                </a:solidFill>
                <a:latin typeface="Segoe UI"/>
              </a:rPr>
              <a:t>Решение: дёшево находим пробел — дорого закрываем, только где он есть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51206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9ADBB4"/>
                </a:solidFill>
                <a:latin typeface="Segoe UI"/>
              </a:rPr>
              <a:t>Слой 1 — аудит полноты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E8EAF0"/>
                </a:solidFill>
                <a:latin typeface="Segoe UI"/>
              </a:rPr>
              <a:t>•  Граф на BERT-кодировках, без обучения и без LLM. Раскладывает запрос на нужные доказательства и находит пробелы.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E8EAF0"/>
                </a:solidFill>
                <a:latin typeface="Segoe UI"/>
              </a:rPr>
              <a:t>•  Дёшево, детерминированно, на любом домене.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554480"/>
            <a:ext cx="51206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9ADBB4"/>
                </a:solidFill>
                <a:latin typeface="Segoe UI"/>
              </a:rPr>
              <a:t>Слой 2 — RLM discovery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E8EAF0"/>
                </a:solidFill>
                <a:latin typeface="Segoe UI"/>
              </a:rPr>
              <a:t>•  Дорогой LLM-цикл запускается ТОЛЬКО когда аудит нашёл реальный пробел.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E8EAF0"/>
                </a:solidFill>
                <a:latin typeface="Segoe UI"/>
              </a:rPr>
              <a:t>•  Целенаправленно достаёт недостающее звено цепочки.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212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FFD479"/>
                </a:solidFill>
                <a:latin typeface="Segoe UI"/>
              </a:rPr>
              <a:t>Gap-driven экономика: за дорогой LLM платим только там, где есть пробел.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3000" b="1" i="0">
                <a:solidFill>
                  <a:srgbClr val="7CC4FF"/>
                </a:solidFill>
                <a:latin typeface="Segoe UI"/>
              </a:rPr>
              <a:t>Результат: полнота 70% там, где наивный RAG упирается в 21%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280160" y="1920240"/>
          <a:ext cx="9601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75120"/>
                <a:gridCol w="2926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CC4FF"/>
                          </a:solidFill>
                          <a:latin typeface="Segoe UI"/>
                        </a:rPr>
                        <a:t>Подход</a:t>
                      </a:r>
                    </a:p>
                  </a:txBody>
                  <a:tcPr marL="109728" marR="109728" marT="36576" marB="36576" anchor="ctr">
                    <a:solidFill>
                      <a:srgbClr val="1B22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7CC4FF"/>
                          </a:solidFill>
                          <a:latin typeface="Segoe UI"/>
                        </a:rPr>
                        <a:t>Полнота доказательств</a:t>
                      </a:r>
                    </a:p>
                  </a:txBody>
                  <a:tcPr marL="109728" marR="109728" marT="36576" marB="36576" anchor="ctr">
                    <a:solidFill>
                      <a:srgbClr val="1B223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E8EAF0"/>
                          </a:solidFill>
                          <a:latin typeface="Segoe UI"/>
                        </a:rPr>
                        <a:t>Наивный RAG (dense / cross-encoder / итеративный)</a:t>
                      </a:r>
                    </a:p>
                  </a:txBody>
                  <a:tcPr marL="109728" marR="109728" marT="36576" marB="36576" anchor="ctr">
                    <a:solidFill>
                      <a:srgbClr val="1115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E8EAF0"/>
                          </a:solidFill>
                          <a:latin typeface="Segoe UI"/>
                        </a:rPr>
                        <a:t>~0.21</a:t>
                      </a:r>
                    </a:p>
                  </a:txBody>
                  <a:tcPr marL="109728" marR="109728" marT="36576" marB="36576" anchor="ctr">
                    <a:solidFill>
                      <a:srgbClr val="11151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9ADBB4"/>
                          </a:solidFill>
                          <a:latin typeface="Segoe UI"/>
                        </a:rPr>
                        <a:t>GraphRLM — zero-shot, без обучения</a:t>
                      </a:r>
                    </a:p>
                  </a:txBody>
                  <a:tcPr marL="109728" marR="109728" marT="36576" marB="36576" anchor="ctr">
                    <a:solidFill>
                      <a:srgbClr val="2030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9ADBB4"/>
                          </a:solidFill>
                          <a:latin typeface="Segoe UI"/>
                        </a:rPr>
                        <a:t>0.70</a:t>
                      </a:r>
                    </a:p>
                  </a:txBody>
                  <a:tcPr marL="109728" marR="109728" marT="36576" marB="36576" anchor="ctr">
                    <a:solidFill>
                      <a:srgbClr val="20301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E8EAF0"/>
                          </a:solidFill>
                          <a:latin typeface="Segoe UI"/>
                        </a:rPr>
                        <a:t>Supervised SOTA — обучен на датасете *</a:t>
                      </a:r>
                    </a:p>
                  </a:txBody>
                  <a:tcPr marL="109728" marR="109728" marT="36576" marB="36576" anchor="ctr">
                    <a:solidFill>
                      <a:srgbClr val="1115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E8EAF0"/>
                          </a:solidFill>
                          <a:latin typeface="Segoe UI"/>
                        </a:rPr>
                        <a:t>0.774</a:t>
                      </a:r>
                    </a:p>
                  </a:txBody>
                  <a:tcPr marL="109728" marR="109728" marT="36576" marB="36576" anchor="ctr">
                    <a:solidFill>
                      <a:srgbClr val="11151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57200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E8EAF0"/>
                </a:solidFill>
                <a:latin typeface="Segoe UI"/>
              </a:rPr>
              <a:t>Бенчмарк MuSiQue, 500 кейсов, парные тесты (p &lt;&lt; 0.001). Zero-shot — вплотную к системам, обученным под задачу.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8B93A7"/>
                </a:solidFill>
                <a:latin typeface="Segoe UI"/>
              </a:rPr>
              <a:t>* внешнее число — directional: протоколы оценки не идентичны.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3000" b="1" i="0">
                <a:solidFill>
                  <a:srgbClr val="7CC4FF"/>
                </a:solidFill>
                <a:latin typeface="Segoe UI"/>
              </a:rPr>
              <a:t>Качество ответов выше публичных LLM — за копейки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280160" y="1920240"/>
          <a:ext cx="9601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057400"/>
                <a:gridCol w="2057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CC4FF"/>
                          </a:solidFill>
                          <a:latin typeface="Segoe UI"/>
                        </a:rPr>
                        <a:t>Метрика (500 кейсов, zero-shot, v2)</a:t>
                      </a:r>
                    </a:p>
                  </a:txBody>
                  <a:tcPr marL="109728" marR="109728" marT="36576" marB="36576" anchor="ctr">
                    <a:solidFill>
                      <a:srgbClr val="1B22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7CC4FF"/>
                          </a:solidFill>
                          <a:latin typeface="Segoe UI"/>
                        </a:rPr>
                        <a:t>GraphRLM</a:t>
                      </a:r>
                    </a:p>
                  </a:txBody>
                  <a:tcPr marL="109728" marR="109728" marT="36576" marB="36576" anchor="ctr">
                    <a:solidFill>
                      <a:srgbClr val="1B22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7CC4FF"/>
                          </a:solidFill>
                          <a:latin typeface="Segoe UI"/>
                        </a:rPr>
                        <a:t>Публичные LLM *</a:t>
                      </a:r>
                    </a:p>
                  </a:txBody>
                  <a:tcPr marL="109728" marR="109728" marT="36576" marB="36576" anchor="ctr">
                    <a:solidFill>
                      <a:srgbClr val="1B223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9ADBB4"/>
                          </a:solidFill>
                          <a:latin typeface="Segoe UI"/>
                        </a:rPr>
                        <a:t>Точность ответа (EM)</a:t>
                      </a:r>
                    </a:p>
                  </a:txBody>
                  <a:tcPr marL="109728" marR="109728" marT="36576" marB="36576" anchor="ctr">
                    <a:solidFill>
                      <a:srgbClr val="2030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9ADBB4"/>
                          </a:solidFill>
                          <a:latin typeface="Segoe UI"/>
                        </a:rPr>
                        <a:t>0.52</a:t>
                      </a:r>
                    </a:p>
                  </a:txBody>
                  <a:tcPr marL="109728" marR="109728" marT="36576" marB="36576" anchor="ctr">
                    <a:solidFill>
                      <a:srgbClr val="2030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9ADBB4"/>
                          </a:solidFill>
                          <a:latin typeface="Segoe UI"/>
                        </a:rPr>
                        <a:t>~0.37</a:t>
                      </a:r>
                    </a:p>
                  </a:txBody>
                  <a:tcPr marL="109728" marR="109728" marT="36576" marB="36576" anchor="ctr">
                    <a:solidFill>
                      <a:srgbClr val="20301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9ADBB4"/>
                          </a:solidFill>
                          <a:latin typeface="Segoe UI"/>
                        </a:rPr>
                        <a:t>Полнота ответа (F1)</a:t>
                      </a:r>
                    </a:p>
                  </a:txBody>
                  <a:tcPr marL="109728" marR="109728" marT="36576" marB="36576" anchor="ctr">
                    <a:solidFill>
                      <a:srgbClr val="2030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9ADBB4"/>
                          </a:solidFill>
                          <a:latin typeface="Segoe UI"/>
                        </a:rPr>
                        <a:t>0.64</a:t>
                      </a:r>
                    </a:p>
                  </a:txBody>
                  <a:tcPr marL="109728" marR="109728" marT="36576" marB="36576" anchor="ctr">
                    <a:solidFill>
                      <a:srgbClr val="2030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>
                          <a:solidFill>
                            <a:srgbClr val="9ADBB4"/>
                          </a:solidFill>
                          <a:latin typeface="Segoe UI"/>
                        </a:rPr>
                        <a:t>~0.45</a:t>
                      </a:r>
                    </a:p>
                  </a:txBody>
                  <a:tcPr marL="109728" marR="109728" marT="36576" marB="36576" anchor="ctr">
                    <a:solidFill>
                      <a:srgbClr val="20301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E8EAF0"/>
                          </a:solidFill>
                          <a:latin typeface="Segoe UI"/>
                        </a:rPr>
                        <a:t>Цена за запрос</a:t>
                      </a:r>
                    </a:p>
                  </a:txBody>
                  <a:tcPr marL="109728" marR="109728" marT="36576" marB="36576" anchor="ctr">
                    <a:solidFill>
                      <a:srgbClr val="1115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E8EAF0"/>
                          </a:solidFill>
                          <a:latin typeface="Segoe UI"/>
                        </a:rPr>
                        <a:t>$0.025</a:t>
                      </a:r>
                    </a:p>
                  </a:txBody>
                  <a:tcPr marL="109728" marR="109728" marT="36576" marB="36576" anchor="ctr">
                    <a:solidFill>
                      <a:srgbClr val="1115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>
                          <a:solidFill>
                            <a:srgbClr val="E8EAF0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109728" marT="36576" marB="36576" anchor="ctr">
                    <a:solidFill>
                      <a:srgbClr val="11151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48056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E8EAF0"/>
                </a:solidFill>
                <a:latin typeface="Segoe UI"/>
              </a:rPr>
              <a:t>•  Точность и полнота ответа в ~1.4 раза выше публичных LLM-бейзлайнов — на дешёвой модели.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E8EAF0"/>
                </a:solidFill>
                <a:latin typeface="Segoe UI"/>
              </a:rPr>
              <a:t>•  Дорогой цикл — только по триггеру: на масштабе платишь не за каждый запрос.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8B93A7"/>
                </a:solidFill>
                <a:latin typeface="Segoe UI"/>
              </a:rPr>
              <a:t>* литературные данные (напр. Gemini на MuSiQue); directional.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3000" b="1" i="0">
                <a:solidFill>
                  <a:srgbClr val="7CC4FF"/>
                </a:solidFill>
                <a:latin typeface="Segoe UI"/>
              </a:rPr>
              <a:t>Почему это трудно повторить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E8EAF0"/>
                </a:solidFill>
                <a:latin typeface="Segoe UI"/>
              </a:rPr>
              <a:t>•  Другая ось конкуренции: не точность ответа (это умеют все), а гарантия отсутствия false completion.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E8EAF0"/>
                </a:solidFill>
                <a:latin typeface="Segoe UI"/>
              </a:rPr>
              <a:t>•  Training-free: работает на новом домене без разметки — конкуренту нужна размеченная выборка под каждую вертикаль.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E8EAF0"/>
                </a:solidFill>
                <a:latin typeface="Segoe UI"/>
              </a:rPr>
              <a:t>•  Структурный аудит полноты + типизированные слоты недостающих доказательств как управляющий сигнал для дорогого поиска.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3000" b="1" i="0">
                <a:solidFill>
                  <a:srgbClr val="7CC4FF"/>
                </a:solidFill>
                <a:latin typeface="Segoe UI"/>
              </a:rPr>
              <a:t>Куда дальше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E8EAF0"/>
                </a:solidFill>
                <a:latin typeface="Segoe UI"/>
              </a:rPr>
              <a:t>•  Валидация на открытом корпусе (10 000+ документов) — режим, где структура обязательна, а не опциональна.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E8EAF0"/>
                </a:solidFill>
                <a:latin typeface="Segoe UI"/>
              </a:rPr>
              <a:t>•  Пилот в вертикали [PLACEHOLDER: юр-research / due diligence / фарма].</a:t>
            </a:r>
          </a:p>
          <a:p>
            <a:pPr>
              <a:spcBef>
                <a:spcPts val="0"/>
              </a:spcBef>
              <a:spcAft>
                <a:spcPts val="2000"/>
              </a:spcAft>
            </a:pPr>
            <a:r>
              <a:rPr sz="2000" b="1" i="0">
                <a:solidFill>
                  <a:srgbClr val="FFD479"/>
                </a:solidFill>
                <a:latin typeface="Segoe UI"/>
              </a:rPr>
              <a:t>•  Запрос: [PLACEHOLDER: сумма / ресурс / партнёрство].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12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2000" b="0" i="1">
                <a:solidFill>
                  <a:srgbClr val="9ADBB4"/>
                </a:solidFill>
                <a:latin typeface="Segoe UI"/>
              </a:rPr>
              <a:t>«Graph verifies completeness. RLM closes evidence gaps.»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